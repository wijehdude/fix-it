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7ff5e03c-ef3c-9d8d-bba1-1f0738bdec2e}">
          <p14:sldIdLst>
            <p14:sldId id="256"/>
            <p14:sldId id="257"/>
          </p14:sldIdLst>
        </p14:section>
        <p14:section name="Architecture" id="{11e1632a-91bc-e92e-a164-45e2346d7229}">
          <p14:sldIdLst>
            <p14:sldId id="258"/>
            <p14:sldId id="259"/>
            <p14:sldId id="260"/>
            <p14:sldId id="261"/>
          </p14:sldIdLst>
        </p14:section>
        <p14:section name="Data pipeline" id="{a707a38f-38a1-7c06-5193-66f7862722a5}">
          <p14:sldIdLst>
            <p14:sldId id="262"/>
            <p14:sldId id="263"/>
            <p14:sldId id="264"/>
          </p14:sldIdLst>
        </p14:section>
        <p14:section name="Server, state and security" id="{3983ea2b-d83d-13ec-0e64-e0a857db743c}">
          <p14:sldIdLst>
            <p14:sldId id="265"/>
            <p14:sldId id="266"/>
            <p14:sldId id="267"/>
          </p14:sldIdLst>
        </p14:section>
        <p14:section name="Operations" id="{efce7eba-f400-8942-a8ca-f2a34e4b6a9b}">
          <p14:sldIdLst>
            <p14:sldId id="268"/>
            <p14:sldId id="269"/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Overview of the architecture of the C3 Defect Intelligence Dashboard: components, data flow, security and deployment.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148840"/>
            <a:ext cx="96012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749040"/>
            <a:ext cx="96012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CADCFC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987552"/>
            <a:ext cx="11094415" cy="34747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500" dirty="0">
                <a:solidFill>
                  <a:schemeClr val="accent5"/>
                </a:solidFill>
              </a:defRPr>
            </a:lvl1pPr>
          </a:lstStyle>
          <a:p>
            <a:pPr algn="l" indent="0" marL="0">
              <a:buNone/>
            </a:pPr>
            <a:endParaRPr lang="en-US" sz="1500" dirty="0"/>
          </a:p>
        </p:txBody>
      </p:sp>
      <p:sp>
        <p:nvSpPr>
          <p:cNvPr id="4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C3 Defect Intelligence Dashboard · System architecture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ADCF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143000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2950" y="1337310"/>
            <a:ext cx="388620" cy="388620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2148840"/>
            <a:ext cx="9601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C3 Defect Intelligence Dashboard: system architecture</a:t>
            </a:r>
            <a:endParaRPr lang="en-US" sz="44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548640" y="374904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CADCFC"/>
                </a:solidFill>
              </a:rPr>
              <a:t>How the webapp turns raw defect logs into recurring issues, priorities, change requests and a manpower plan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59893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Next.js on Vercel  ·  OpenAI API  ·  No database, no login, no stored data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One standard pipeline replaces a manual review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987552"/>
            <a:ext cx="110944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Root cause addressed: no integrated, scalable process linking raw feedback to impact, consolidation and CRs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620469" cy="2377440"/>
          </a:xfrm>
          <a:prstGeom prst="roundRect">
            <a:avLst>
              <a:gd name="adj" fmla="val 4514"/>
            </a:avLst>
          </a:prstGeom>
          <a:solidFill>
            <a:schemeClr val="bg2"/>
          </a:solidFill>
          <a:ln/>
        </p:spPr>
      </p:sp>
      <p:sp>
        <p:nvSpPr>
          <p:cNvPr id="5" name="Shape 3"/>
          <p:cNvSpPr/>
          <p:nvPr/>
        </p:nvSpPr>
        <p:spPr>
          <a:xfrm>
            <a:off x="993115" y="205740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5995" y="2240280"/>
            <a:ext cx="365760" cy="3657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85800" y="2926080"/>
            <a:ext cx="134614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Raw Excel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3520440"/>
            <a:ext cx="134614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Any defect log, multi-sheet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2196541" y="3017520"/>
            <a:ext cx="219456" cy="0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2443429" y="1828800"/>
            <a:ext cx="1620469" cy="2377440"/>
          </a:xfrm>
          <a:prstGeom prst="roundRect">
            <a:avLst>
              <a:gd name="adj" fmla="val 4514"/>
            </a:avLst>
          </a:prstGeom>
          <a:solidFill>
            <a:schemeClr val="bg2"/>
          </a:solidFill>
          <a:ln/>
        </p:spPr>
      </p:sp>
      <p:sp>
        <p:nvSpPr>
          <p:cNvPr id="11" name="Shape 8"/>
          <p:cNvSpPr/>
          <p:nvPr/>
        </p:nvSpPr>
        <p:spPr>
          <a:xfrm>
            <a:off x="2887904" y="2057400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0784" y="224028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2580589" y="2926080"/>
            <a:ext cx="134614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Interpret &amp; classify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2580589" y="3520440"/>
            <a:ext cx="134614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6 categories, severity, impact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4091330" y="3017520"/>
            <a:ext cx="219456" cy="0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6" name="Shape 12"/>
          <p:cNvSpPr/>
          <p:nvPr/>
        </p:nvSpPr>
        <p:spPr>
          <a:xfrm>
            <a:off x="4338218" y="1828800"/>
            <a:ext cx="1620469" cy="2377440"/>
          </a:xfrm>
          <a:prstGeom prst="roundRect">
            <a:avLst>
              <a:gd name="adj" fmla="val 4514"/>
            </a:avLst>
          </a:prstGeom>
          <a:solidFill>
            <a:schemeClr val="bg2"/>
          </a:solidFill>
          <a:ln/>
        </p:spPr>
      </p:sp>
      <p:sp>
        <p:nvSpPr>
          <p:cNvPr id="17" name="Shape 13"/>
          <p:cNvSpPr/>
          <p:nvPr/>
        </p:nvSpPr>
        <p:spPr>
          <a:xfrm>
            <a:off x="4782693" y="205740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5573" y="2240280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4475378" y="2926080"/>
            <a:ext cx="134614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Consolidate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4475378" y="3520440"/>
            <a:ext cx="134614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Recurring issue clusters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5986120" y="3017520"/>
            <a:ext cx="219456" cy="0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2" name="Shape 17"/>
          <p:cNvSpPr/>
          <p:nvPr/>
        </p:nvSpPr>
        <p:spPr>
          <a:xfrm>
            <a:off x="6233008" y="1828800"/>
            <a:ext cx="1620469" cy="2377440"/>
          </a:xfrm>
          <a:prstGeom prst="roundRect">
            <a:avLst>
              <a:gd name="adj" fmla="val 4514"/>
            </a:avLst>
          </a:prstGeom>
          <a:solidFill>
            <a:schemeClr val="bg2"/>
          </a:solidFill>
          <a:ln/>
        </p:spPr>
      </p:sp>
      <p:sp>
        <p:nvSpPr>
          <p:cNvPr id="23" name="Shape 18"/>
          <p:cNvSpPr/>
          <p:nvPr/>
        </p:nvSpPr>
        <p:spPr>
          <a:xfrm>
            <a:off x="6677482" y="2057400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0362" y="2240280"/>
            <a:ext cx="365760" cy="36576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6370168" y="2926080"/>
            <a:ext cx="134614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Prioritise</a:t>
            </a:r>
            <a:endParaRPr lang="en-US" sz="1600" dirty="0"/>
          </a:p>
        </p:txBody>
      </p:sp>
      <p:sp>
        <p:nvSpPr>
          <p:cNvPr id="26" name="Text 20"/>
          <p:cNvSpPr txBox="1"/>
          <p:nvPr/>
        </p:nvSpPr>
        <p:spPr>
          <a:xfrm>
            <a:off x="6370168" y="3520440"/>
            <a:ext cx="134614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Explainable 0–100 score</a:t>
            </a:r>
            <a:endParaRPr lang="en-US" sz="1300" dirty="0"/>
          </a:p>
        </p:txBody>
      </p:sp>
      <p:sp>
        <p:nvSpPr>
          <p:cNvPr id="27" name="Shape 21"/>
          <p:cNvSpPr/>
          <p:nvPr/>
        </p:nvSpPr>
        <p:spPr>
          <a:xfrm>
            <a:off x="7880909" y="3017520"/>
            <a:ext cx="219456" cy="0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8" name="Shape 22"/>
          <p:cNvSpPr/>
          <p:nvPr/>
        </p:nvSpPr>
        <p:spPr>
          <a:xfrm>
            <a:off x="8127797" y="1828800"/>
            <a:ext cx="1620469" cy="2377440"/>
          </a:xfrm>
          <a:prstGeom prst="roundRect">
            <a:avLst>
              <a:gd name="adj" fmla="val 4514"/>
            </a:avLst>
          </a:prstGeom>
          <a:solidFill>
            <a:schemeClr val="bg2"/>
          </a:solidFill>
          <a:ln/>
        </p:spPr>
      </p:sp>
      <p:sp>
        <p:nvSpPr>
          <p:cNvPr id="29" name="Shape 23"/>
          <p:cNvSpPr/>
          <p:nvPr/>
        </p:nvSpPr>
        <p:spPr>
          <a:xfrm>
            <a:off x="8572271" y="205740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5151" y="2240280"/>
            <a:ext cx="365760" cy="365760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8264957" y="2926080"/>
            <a:ext cx="134614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Change requests</a:t>
            </a:r>
            <a:endParaRPr lang="en-US" sz="1600" dirty="0"/>
          </a:p>
        </p:txBody>
      </p:sp>
      <p:sp>
        <p:nvSpPr>
          <p:cNvPr id="32" name="Text 25"/>
          <p:cNvSpPr txBox="1"/>
          <p:nvPr/>
        </p:nvSpPr>
        <p:spPr>
          <a:xfrm>
            <a:off x="8264957" y="3520440"/>
            <a:ext cx="134614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Standard CR format</a:t>
            </a:r>
            <a:endParaRPr lang="en-US" sz="1300" dirty="0"/>
          </a:p>
        </p:txBody>
      </p:sp>
      <p:sp>
        <p:nvSpPr>
          <p:cNvPr id="33" name="Shape 26"/>
          <p:cNvSpPr/>
          <p:nvPr/>
        </p:nvSpPr>
        <p:spPr>
          <a:xfrm>
            <a:off x="9775698" y="3017520"/>
            <a:ext cx="219456" cy="0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34" name="Shape 27"/>
          <p:cNvSpPr/>
          <p:nvPr/>
        </p:nvSpPr>
        <p:spPr>
          <a:xfrm>
            <a:off x="10022586" y="1828800"/>
            <a:ext cx="1620469" cy="2377440"/>
          </a:xfrm>
          <a:prstGeom prst="roundRect">
            <a:avLst>
              <a:gd name="adj" fmla="val 4514"/>
            </a:avLst>
          </a:prstGeom>
          <a:solidFill>
            <a:schemeClr val="bg2"/>
          </a:solidFill>
          <a:ln/>
        </p:spPr>
      </p:sp>
      <p:sp>
        <p:nvSpPr>
          <p:cNvPr id="35" name="Shape 28"/>
          <p:cNvSpPr/>
          <p:nvPr/>
        </p:nvSpPr>
        <p:spPr>
          <a:xfrm>
            <a:off x="10467061" y="2057400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49941" y="2240280"/>
            <a:ext cx="365760" cy="365760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10159746" y="2926080"/>
            <a:ext cx="134614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Manpower plan</a:t>
            </a:r>
            <a:endParaRPr lang="en-US" sz="1600" dirty="0"/>
          </a:p>
        </p:txBody>
      </p:sp>
      <p:sp>
        <p:nvSpPr>
          <p:cNvPr id="38" name="Text 30"/>
          <p:cNvSpPr txBox="1"/>
          <p:nvPr/>
        </p:nvSpPr>
        <p:spPr>
          <a:xfrm>
            <a:off x="10159746" y="3520440"/>
            <a:ext cx="134614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Headcount per trade &amp; shift</a:t>
            </a:r>
            <a:endParaRPr lang="en-US" sz="1300" dirty="0"/>
          </a:p>
        </p:txBody>
      </p:sp>
      <p:sp>
        <p:nvSpPr>
          <p:cNvPr id="39" name="Shape 31"/>
          <p:cNvSpPr/>
          <p:nvPr/>
        </p:nvSpPr>
        <p:spPr>
          <a:xfrm>
            <a:off x="548640" y="4572000"/>
            <a:ext cx="11094415" cy="1508760"/>
          </a:xfrm>
          <a:prstGeom prst="roundRect">
            <a:avLst>
              <a:gd name="adj" fmla="val 4848"/>
            </a:avLst>
          </a:prstGeom>
          <a:solidFill>
            <a:schemeClr val="bg1"/>
          </a:solidFill>
          <a:ln w="15875">
            <a:solidFill>
              <a:srgbClr val="D5DEEA"/>
            </a:solidFill>
            <a:prstDash val="solid"/>
          </a:ln>
        </p:spPr>
      </p:sp>
      <p:sp>
        <p:nvSpPr>
          <p:cNvPr id="40" name="Text 32"/>
          <p:cNvSpPr txBox="1"/>
          <p:nvPr/>
        </p:nvSpPr>
        <p:spPr>
          <a:xfrm>
            <a:off x="822960" y="47548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Before</a:t>
            </a:r>
            <a:endParaRPr lang="en-US" sz="1600" dirty="0"/>
          </a:p>
        </p:txBody>
      </p:sp>
      <p:sp>
        <p:nvSpPr>
          <p:cNvPr id="41" name="Text 33"/>
          <p:cNvSpPr txBox="1"/>
          <p:nvPr/>
        </p:nvSpPr>
        <p:spPr>
          <a:xfrm>
            <a:off x="2286000" y="4754880"/>
            <a:ext cx="90827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Analysts read, tag and cross-reference each record by hand; significance and CRs depend on individual judgement.</a:t>
            </a:r>
            <a:endParaRPr lang="en-US" sz="1400" dirty="0"/>
          </a:p>
        </p:txBody>
      </p:sp>
      <p:sp>
        <p:nvSpPr>
          <p:cNvPr id="42" name="Text 34"/>
          <p:cNvSpPr txBox="1"/>
          <p:nvPr/>
        </p:nvSpPr>
        <p:spPr>
          <a:xfrm>
            <a:off x="822960" y="53949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After</a:t>
            </a:r>
            <a:endParaRPr lang="en-US" sz="1600" dirty="0"/>
          </a:p>
        </p:txBody>
      </p:sp>
      <p:sp>
        <p:nvSpPr>
          <p:cNvPr id="43" name="Text 35"/>
          <p:cNvSpPr txBox="1"/>
          <p:nvPr/>
        </p:nvSpPr>
        <p:spPr>
          <a:xfrm>
            <a:off x="2286000" y="5394960"/>
            <a:ext cx="90827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Upload a workbook, confirm the columns, and get consistent, explainable results in minutes.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Six principles shape every design decision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987552"/>
            <a:ext cx="110944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Thick client, thin stateless server, AI only where language understanding is needed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454298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96596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" y="2125980"/>
            <a:ext cx="320040" cy="3200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45920" y="2057400"/>
            <a:ext cx="21741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No persistence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743200"/>
            <a:ext cx="290565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No database or accounts. Data lives in the browser tab; the server stores nothing.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368698" y="1691640"/>
            <a:ext cx="3454298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/>
        </p:spPr>
      </p:sp>
      <p:sp>
        <p:nvSpPr>
          <p:cNvPr id="10" name="Shape 7"/>
          <p:cNvSpPr/>
          <p:nvPr/>
        </p:nvSpPr>
        <p:spPr>
          <a:xfrm>
            <a:off x="4643018" y="196596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3038" y="212598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465978" y="2057400"/>
            <a:ext cx="21741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Thick client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4643018" y="2743200"/>
            <a:ext cx="290565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Parsing, clustering, scoring, SLA and manpower maths run in the browser.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188757" y="1691640"/>
            <a:ext cx="3454298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/>
        </p:spPr>
      </p:sp>
      <p:sp>
        <p:nvSpPr>
          <p:cNvPr id="15" name="Shape 11"/>
          <p:cNvSpPr/>
          <p:nvPr/>
        </p:nvSpPr>
        <p:spPr>
          <a:xfrm>
            <a:off x="8463077" y="1965960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3097" y="2125980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9286037" y="2057400"/>
            <a:ext cx="21741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Secret API key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8463077" y="2743200"/>
            <a:ext cx="290565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OpenAI key used only server-side; the build fails if it leaks into client code.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548640" y="3977640"/>
            <a:ext cx="3454298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/>
        </p:spPr>
      </p:sp>
      <p:sp>
        <p:nvSpPr>
          <p:cNvPr id="20" name="Shape 15"/>
          <p:cNvSpPr/>
          <p:nvPr/>
        </p:nvSpPr>
        <p:spPr>
          <a:xfrm>
            <a:off x="822960" y="425196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980" y="4411980"/>
            <a:ext cx="320040" cy="32004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645920" y="4343400"/>
            <a:ext cx="21741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Minimal data to AI</a:t>
            </a:r>
            <a:endParaRPr lang="en-US" sz="1800" dirty="0"/>
          </a:p>
        </p:txBody>
      </p:sp>
      <p:sp>
        <p:nvSpPr>
          <p:cNvPr id="23" name="Text 17"/>
          <p:cNvSpPr txBox="1"/>
          <p:nvPr/>
        </p:nvSpPr>
        <p:spPr>
          <a:xfrm>
            <a:off x="822960" y="5029200"/>
            <a:ext cx="290565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Only needed fields are sent; names never are; PII is scrubbed first.</a:t>
            </a:r>
            <a:endParaRPr lang="en-US" sz="1400" dirty="0"/>
          </a:p>
        </p:txBody>
      </p:sp>
      <p:sp>
        <p:nvSpPr>
          <p:cNvPr id="24" name="Shape 18"/>
          <p:cNvSpPr/>
          <p:nvPr/>
        </p:nvSpPr>
        <p:spPr>
          <a:xfrm>
            <a:off x="4368698" y="3977640"/>
            <a:ext cx="3454298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/>
        </p:spPr>
      </p:sp>
      <p:sp>
        <p:nvSpPr>
          <p:cNvPr id="25" name="Shape 19"/>
          <p:cNvSpPr/>
          <p:nvPr/>
        </p:nvSpPr>
        <p:spPr>
          <a:xfrm>
            <a:off x="4643018" y="425196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3038" y="4411980"/>
            <a:ext cx="320040" cy="32004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5465978" y="4343400"/>
            <a:ext cx="21741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Deterministic core</a:t>
            </a:r>
            <a:endParaRPr lang="en-US" sz="1800" dirty="0"/>
          </a:p>
        </p:txBody>
      </p:sp>
      <p:sp>
        <p:nvSpPr>
          <p:cNvPr id="28" name="Text 21"/>
          <p:cNvSpPr txBox="1"/>
          <p:nvPr/>
        </p:nvSpPr>
        <p:spPr>
          <a:xfrm>
            <a:off x="4643018" y="5029200"/>
            <a:ext cx="290565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SLA, scores, clusters and headcount are unit-tested functions.</a:t>
            </a:r>
            <a:endParaRPr lang="en-US" sz="1400" dirty="0"/>
          </a:p>
        </p:txBody>
      </p:sp>
      <p:sp>
        <p:nvSpPr>
          <p:cNvPr id="29" name="Shape 22"/>
          <p:cNvSpPr/>
          <p:nvPr/>
        </p:nvSpPr>
        <p:spPr>
          <a:xfrm>
            <a:off x="8188757" y="3977640"/>
            <a:ext cx="3454298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/>
        </p:spPr>
      </p:sp>
      <p:sp>
        <p:nvSpPr>
          <p:cNvPr id="30" name="Shape 23"/>
          <p:cNvSpPr/>
          <p:nvPr/>
        </p:nvSpPr>
        <p:spPr>
          <a:xfrm>
            <a:off x="8463077" y="4251960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23097" y="4411980"/>
            <a:ext cx="320040" cy="320040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9286037" y="4343400"/>
            <a:ext cx="21741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Explainable</a:t>
            </a:r>
            <a:endParaRPr lang="en-US" sz="1800" dirty="0"/>
          </a:p>
        </p:txBody>
      </p:sp>
      <p:sp>
        <p:nvSpPr>
          <p:cNvPr id="33" name="Text 25"/>
          <p:cNvSpPr txBox="1"/>
          <p:nvPr/>
        </p:nvSpPr>
        <p:spPr>
          <a:xfrm>
            <a:off x="8463077" y="5029200"/>
            <a:ext cx="290565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AI rationale and confidence, score breakdowns, CR evidence with row numbers.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Three tiers: browser, stateless API, OpenAI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987552"/>
            <a:ext cx="110944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All heavy lifting stays in the browser; the server only brokers AI calls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6492240" cy="4572000"/>
          </a:xfrm>
          <a:prstGeom prst="roundRect">
            <a:avLst>
              <a:gd name="adj" fmla="val 1600"/>
            </a:avLst>
          </a:prstGeom>
          <a:solidFill>
            <a:srgbClr val="F3F7FC"/>
          </a:solidFill>
          <a:ln w="15875">
            <a:solidFill>
              <a:srgbClr val="BFD3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78308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2970" y="1908810"/>
            <a:ext cx="251460" cy="2514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17320" y="18288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User's browser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822960" y="2514600"/>
            <a:ext cx="2880360" cy="1005840"/>
          </a:xfrm>
          <a:prstGeom prst="roundRect">
            <a:avLst>
              <a:gd name="adj" fmla="val 7273"/>
            </a:avLst>
          </a:prstGeom>
          <a:solidFill>
            <a:schemeClr val="bg1"/>
          </a:solidFill>
          <a:ln w="15875">
            <a:solidFill>
              <a:srgbClr val="D5DEE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960120" y="262432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SheetJS parser + column mapping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960120" y="299008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File read locally, never uploaded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977640" y="2514600"/>
            <a:ext cx="2880360" cy="1005840"/>
          </a:xfrm>
          <a:prstGeom prst="roundRect">
            <a:avLst>
              <a:gd name="adj" fmla="val 7273"/>
            </a:avLst>
          </a:prstGeom>
          <a:solidFill>
            <a:schemeClr val="bg1"/>
          </a:solidFill>
          <a:ln w="15875">
            <a:solidFill>
              <a:srgbClr val="D5DEE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114800" y="262432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Zustand store (memory only)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4114800" y="299008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Records, AI results, overrides, settings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822960" y="3703320"/>
            <a:ext cx="2880360" cy="1005840"/>
          </a:xfrm>
          <a:prstGeom prst="roundRect">
            <a:avLst>
              <a:gd name="adj" fmla="val 7273"/>
            </a:avLst>
          </a:prstGeom>
          <a:solidFill>
            <a:schemeClr val="bg1"/>
          </a:solidFill>
          <a:ln w="15875">
            <a:solidFill>
              <a:srgbClr val="D5DEE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960120" y="381304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Pipeline orchestrator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960120" y="417880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Batches · 4 in parallel · retry/backoff · cache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3977640" y="3703320"/>
            <a:ext cx="2880360" cy="1005840"/>
          </a:xfrm>
          <a:prstGeom prst="roundRect">
            <a:avLst>
              <a:gd name="adj" fmla="val 7273"/>
            </a:avLst>
          </a:prstGeom>
          <a:solidFill>
            <a:schemeClr val="bg1"/>
          </a:solidFill>
          <a:ln w="15875">
            <a:solidFill>
              <a:srgbClr val="D5DEE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114800" y="381304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Derived analytics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4114800" y="417880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SLA · scores · clusters · manpower (live)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822960" y="4892040"/>
            <a:ext cx="2880360" cy="1005840"/>
          </a:xfrm>
          <a:prstGeom prst="roundRect">
            <a:avLst>
              <a:gd name="adj" fmla="val 7273"/>
            </a:avLst>
          </a:prstGeom>
          <a:solidFill>
            <a:schemeClr val="bg1"/>
          </a:solidFill>
          <a:ln w="15875">
            <a:solidFill>
              <a:srgbClr val="D5DEEA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960120" y="500176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Web Worker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960120" y="536752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Average-linkage clustering off the main thread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3977640" y="4892040"/>
            <a:ext cx="2880360" cy="1005840"/>
          </a:xfrm>
          <a:prstGeom prst="roundRect">
            <a:avLst>
              <a:gd name="adj" fmla="val 7273"/>
            </a:avLst>
          </a:prstGeom>
          <a:solidFill>
            <a:schemeClr val="bg1"/>
          </a:solidFill>
          <a:ln w="15875">
            <a:solidFill>
              <a:srgbClr val="D5DEEA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4114800" y="500176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Dashboard (10 tabs)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4114800" y="536752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Cross-filtering charts and tables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7635240" y="1600200"/>
            <a:ext cx="2148840" cy="4572000"/>
          </a:xfrm>
          <a:prstGeom prst="roundRect">
            <a:avLst>
              <a:gd name="adj" fmla="val 3404"/>
            </a:avLst>
          </a:prstGeom>
          <a:solidFill>
            <a:srgbClr val="F2FAF6"/>
          </a:solidFill>
          <a:ln w="15875">
            <a:solidFill>
              <a:srgbClr val="B5E3CF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818120" y="178308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3850" y="1908810"/>
            <a:ext cx="251460" cy="251460"/>
          </a:xfrm>
          <a:prstGeom prst="rect">
            <a:avLst/>
          </a:prstGeom>
        </p:spPr>
      </p:pic>
      <p:sp>
        <p:nvSpPr>
          <p:cNvPr id="29" name="Text 25"/>
          <p:cNvSpPr txBox="1"/>
          <p:nvPr/>
        </p:nvSpPr>
        <p:spPr>
          <a:xfrm>
            <a:off x="8412480" y="182880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Vercel API</a:t>
            </a:r>
            <a:endParaRPr lang="en-US" sz="1800" dirty="0"/>
          </a:p>
        </p:txBody>
      </p:sp>
      <p:sp>
        <p:nvSpPr>
          <p:cNvPr id="30" name="Text 26"/>
          <p:cNvSpPr txBox="1"/>
          <p:nvPr/>
        </p:nvSpPr>
        <p:spPr>
          <a:xfrm>
            <a:off x="7818120" y="2514600"/>
            <a:ext cx="18288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Access code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Rate limit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Size limit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Zod validation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PII scrub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Structured output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Typed errors</a:t>
            </a:r>
            <a:endParaRPr lang="en-US" sz="1400" dirty="0"/>
          </a:p>
        </p:txBody>
      </p:sp>
      <p:sp>
        <p:nvSpPr>
          <p:cNvPr id="31" name="Text 27"/>
          <p:cNvSpPr txBox="1"/>
          <p:nvPr/>
        </p:nvSpPr>
        <p:spPr>
          <a:xfrm>
            <a:off x="7818120" y="55321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Stateless · no logs of bodies</a:t>
            </a:r>
            <a:endParaRPr lang="en-US" sz="1200" dirty="0"/>
          </a:p>
        </p:txBody>
      </p:sp>
      <p:sp>
        <p:nvSpPr>
          <p:cNvPr id="32" name="Shape 28"/>
          <p:cNvSpPr/>
          <p:nvPr/>
        </p:nvSpPr>
        <p:spPr>
          <a:xfrm>
            <a:off x="10241280" y="2651760"/>
            <a:ext cx="1401775" cy="2377440"/>
          </a:xfrm>
          <a:prstGeom prst="roundRect">
            <a:avLst>
              <a:gd name="adj" fmla="val 5219"/>
            </a:avLst>
          </a:prstGeom>
          <a:solidFill>
            <a:srgbClr val="FDF3EE"/>
          </a:solidFill>
          <a:ln w="15875">
            <a:solidFill>
              <a:srgbClr val="F3C3AA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10622128" y="2834640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3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2148" y="2994660"/>
            <a:ext cx="320040" cy="320040"/>
          </a:xfrm>
          <a:prstGeom prst="rect">
            <a:avLst/>
          </a:prstGeom>
        </p:spPr>
      </p:pic>
      <p:sp>
        <p:nvSpPr>
          <p:cNvPr id="35" name="Text 30"/>
          <p:cNvSpPr txBox="1"/>
          <p:nvPr/>
        </p:nvSpPr>
        <p:spPr>
          <a:xfrm>
            <a:off x="10332720" y="3566160"/>
            <a:ext cx="1218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OpenAI API</a:t>
            </a:r>
            <a:endParaRPr lang="en-US" sz="1600" dirty="0"/>
          </a:p>
        </p:txBody>
      </p:sp>
      <p:sp>
        <p:nvSpPr>
          <p:cNvPr id="36" name="Text 31"/>
          <p:cNvSpPr txBox="1"/>
          <p:nvPr/>
        </p:nvSpPr>
        <p:spPr>
          <a:xfrm>
            <a:off x="10332720" y="3931920"/>
            <a:ext cx="1218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Chat model + embeddings</a:t>
            </a:r>
            <a:endParaRPr lang="en-US" sz="1200" dirty="0"/>
          </a:p>
        </p:txBody>
      </p:sp>
      <p:sp>
        <p:nvSpPr>
          <p:cNvPr id="37" name="Shape 32"/>
          <p:cNvSpPr/>
          <p:nvPr/>
        </p:nvSpPr>
        <p:spPr>
          <a:xfrm>
            <a:off x="7040880" y="3840480"/>
            <a:ext cx="594360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38" name="Shape 33"/>
          <p:cNvSpPr/>
          <p:nvPr/>
        </p:nvSpPr>
        <p:spPr>
          <a:xfrm>
            <a:off x="9784080" y="3840480"/>
            <a:ext cx="457200" cy="0"/>
          </a:xfrm>
          <a:prstGeom prst="line">
            <a:avLst/>
          </a:prstGeom>
          <a:noFill/>
          <a:ln w="22225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 mainstream, typed stack end to end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987552"/>
            <a:ext cx="110944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Every layer is TypeScript; the AI SDK is only ever imported on the server</a:t>
            </a:r>
            <a:endParaRPr lang="en-US" sz="15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4415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8534095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Framework</a:t>
                      </a:r>
                      <a:endParaRPr lang="en-US" sz="1600" dirty="0"/>
                    </a:p>
                  </a:txBody>
                  <a:tcPr marL="182880" marR="18288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Next.js 16 App Router · TypeScript strict · React 19</a:t>
                      </a:r>
                      <a:endParaRPr lang="en-US" sz="1600" dirty="0"/>
                    </a:p>
                  </a:txBody>
                  <a:tcPr marL="182880" marR="18288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UI</a:t>
                      </a:r>
                      <a:endParaRPr lang="en-US" sz="1600" dirty="0"/>
                    </a:p>
                  </a:txBody>
                  <a:tcPr marL="182880" marR="18288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Tailwind CSS 4 · shadcn/ui (Radix) · lucide icons</a:t>
                      </a:r>
                      <a:endParaRPr lang="en-US" sz="1600" dirty="0"/>
                    </a:p>
                  </a:txBody>
                  <a:tcPr marL="182880" marR="18288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Charts &amp; tables</a:t>
                      </a:r>
                      <a:endParaRPr lang="en-US" sz="1600" dirty="0"/>
                    </a:p>
                  </a:txBody>
                  <a:tcPr marL="182880" marR="18288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Recharts (incl. Sankey) · TanStack Table + Virtual</a:t>
                      </a:r>
                      <a:endParaRPr lang="en-US" sz="1600" dirty="0"/>
                    </a:p>
                  </a:txBody>
                  <a:tcPr marL="182880" marR="18288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Data &amp; state</a:t>
                      </a:r>
                      <a:endParaRPr lang="en-US" sz="1600" dirty="0"/>
                    </a:p>
                  </a:txBody>
                  <a:tcPr marL="182880" marR="18288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SheetJS in the browser · Zustand (in memory) · Zod</a:t>
                      </a:r>
                      <a:endParaRPr lang="en-US" sz="1600" dirty="0"/>
                    </a:p>
                  </a:txBody>
                  <a:tcPr marL="182880" marR="18288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AI</a:t>
                      </a:r>
                      <a:endParaRPr lang="en-US" sz="1600" dirty="0"/>
                    </a:p>
                  </a:txBody>
                  <a:tcPr marL="182880" marR="18288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Official openai SDK (server only) · chat + embeddings</a:t>
                      </a:r>
                      <a:endParaRPr lang="en-US" sz="1600" dirty="0"/>
                    </a:p>
                  </a:txBody>
                  <a:tcPr marL="182880" marR="18288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Compute</a:t>
                      </a:r>
                      <a:endParaRPr lang="en-US" sz="1600" dirty="0"/>
                    </a:p>
                  </a:txBody>
                  <a:tcPr marL="182880" marR="18288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TypeScript clustering in a Web Worker</a:t>
                      </a:r>
                      <a:endParaRPr lang="en-US" sz="1600" dirty="0"/>
                    </a:p>
                  </a:txBody>
                  <a:tcPr marL="182880" marR="18288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Testing</a:t>
                      </a:r>
                      <a:endParaRPr lang="en-US" sz="1600" dirty="0"/>
                    </a:p>
                  </a:txBody>
                  <a:tcPr marL="182880" marR="18288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Vitest unit tests · Playwright end-to-end</a:t>
                      </a:r>
                      <a:endParaRPr lang="en-US" sz="1600" dirty="0"/>
                    </a:p>
                  </a:txBody>
                  <a:tcPr marL="182880" marR="18288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Hosting</a:t>
                      </a:r>
                      <a:endParaRPr lang="en-US" sz="1600" dirty="0"/>
                    </a:p>
                  </a:txBody>
                  <a:tcPr marL="182880" marR="18288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Vercel from GitHub main · preview deploys on PRs</a:t>
                      </a:r>
                      <a:endParaRPr lang="en-US" sz="1600" dirty="0"/>
                    </a:p>
                  </a:txBody>
                  <a:tcPr marL="182880" marR="18288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Six stages take the user from file to dashboard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987552"/>
            <a:ext cx="110944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One page; a single `stage` value in the store drives what is shown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377925" y="2331720"/>
            <a:ext cx="9435846" cy="0"/>
          </a:xfrm>
          <a:prstGeom prst="line">
            <a:avLst/>
          </a:prstGeom>
          <a:noFill/>
          <a:ln w="25400">
            <a:solidFill>
              <a:srgbClr val="BFD3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6445" y="192024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2185" y="2125980"/>
            <a:ext cx="411480" cy="4114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2926080"/>
            <a:ext cx="165856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1. Upload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3383280"/>
            <a:ext cx="147568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Consent to data notice; file parsed locally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2853614" y="192024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9354" y="212598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435809" y="2926080"/>
            <a:ext cx="165856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2. Sheets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2527249" y="3383280"/>
            <a:ext cx="147568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Choose sheets; sheet name = legacy category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4740783" y="1920240"/>
            <a:ext cx="822960" cy="82296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6523" y="2125980"/>
            <a:ext cx="411480" cy="41148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4322978" y="2926080"/>
            <a:ext cx="165856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3. Mapping</a:t>
            </a:r>
            <a:endParaRPr lang="en-US" sz="1800" dirty="0"/>
          </a:p>
        </p:txBody>
      </p:sp>
      <p:sp>
        <p:nvSpPr>
          <p:cNvPr id="16" name="Text 11"/>
          <p:cNvSpPr txBox="1"/>
          <p:nvPr/>
        </p:nvSpPr>
        <p:spPr>
          <a:xfrm>
            <a:off x="4414418" y="3383280"/>
            <a:ext cx="147568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Confirm detected columns, date preview, data quality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6627952" y="192024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3692" y="2125980"/>
            <a:ext cx="411480" cy="41148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6210148" y="2926080"/>
            <a:ext cx="165856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4. Analyse</a:t>
            </a:r>
            <a:endParaRPr lang="en-US" sz="1800" dirty="0"/>
          </a:p>
        </p:txBody>
      </p:sp>
      <p:sp>
        <p:nvSpPr>
          <p:cNvPr id="20" name="Text 14"/>
          <p:cNvSpPr txBox="1"/>
          <p:nvPr/>
        </p:nvSpPr>
        <p:spPr>
          <a:xfrm>
            <a:off x="6301588" y="3383280"/>
            <a:ext cx="147568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Batched AI pipeline with progress, cancel, retry</a:t>
            </a:r>
            <a:endParaRPr lang="en-US" sz="1400" dirty="0"/>
          </a:p>
        </p:txBody>
      </p:sp>
      <p:sp>
        <p:nvSpPr>
          <p:cNvPr id="21" name="Shape 15"/>
          <p:cNvSpPr/>
          <p:nvPr/>
        </p:nvSpPr>
        <p:spPr>
          <a:xfrm>
            <a:off x="8515121" y="192024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20861" y="2125980"/>
            <a:ext cx="411480" cy="411480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8097317" y="2926080"/>
            <a:ext cx="165856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5. Locations</a:t>
            </a:r>
            <a:endParaRPr lang="en-US" sz="1800" dirty="0"/>
          </a:p>
        </p:txBody>
      </p:sp>
      <p:sp>
        <p:nvSpPr>
          <p:cNvPr id="24" name="Text 17"/>
          <p:cNvSpPr txBox="1"/>
          <p:nvPr/>
        </p:nvSpPr>
        <p:spPr>
          <a:xfrm>
            <a:off x="8188757" y="3383280"/>
            <a:ext cx="147568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Review or override AI location criticality</a:t>
            </a:r>
            <a:endParaRPr lang="en-US" sz="1400" dirty="0"/>
          </a:p>
        </p:txBody>
      </p:sp>
      <p:sp>
        <p:nvSpPr>
          <p:cNvPr id="25" name="Shape 18"/>
          <p:cNvSpPr/>
          <p:nvPr/>
        </p:nvSpPr>
        <p:spPr>
          <a:xfrm>
            <a:off x="10402291" y="192024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08031" y="2125980"/>
            <a:ext cx="411480" cy="411480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9984486" y="2926080"/>
            <a:ext cx="165856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6. Dashboard</a:t>
            </a:r>
            <a:endParaRPr lang="en-US" sz="1800" dirty="0"/>
          </a:p>
        </p:txBody>
      </p:sp>
      <p:sp>
        <p:nvSpPr>
          <p:cNvPr id="28" name="Text 20"/>
          <p:cNvSpPr txBox="1"/>
          <p:nvPr/>
        </p:nvSpPr>
        <p:spPr>
          <a:xfrm>
            <a:off x="10075926" y="3383280"/>
            <a:ext cx="147568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10 tabs, global filters, scoring settings</a:t>
            </a:r>
            <a:endParaRPr lang="en-US" sz="1400" dirty="0"/>
          </a:p>
        </p:txBody>
      </p:sp>
      <p:sp>
        <p:nvSpPr>
          <p:cNvPr id="29" name="Shape 21"/>
          <p:cNvSpPr/>
          <p:nvPr/>
        </p:nvSpPr>
        <p:spPr>
          <a:xfrm>
            <a:off x="548640" y="4800600"/>
            <a:ext cx="11094415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30" name="Shape 22"/>
          <p:cNvSpPr/>
          <p:nvPr/>
        </p:nvSpPr>
        <p:spPr>
          <a:xfrm>
            <a:off x="822960" y="512064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2980" y="5280660"/>
            <a:ext cx="320040" cy="320040"/>
          </a:xfrm>
          <a:prstGeom prst="rect">
            <a:avLst/>
          </a:prstGeom>
        </p:spPr>
      </p:pic>
      <p:sp>
        <p:nvSpPr>
          <p:cNvPr id="32" name="Text 23"/>
          <p:cNvSpPr txBox="1"/>
          <p:nvPr/>
        </p:nvSpPr>
        <p:spPr>
          <a:xfrm>
            <a:off x="1691640" y="4983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Guards around the flow</a:t>
            </a:r>
            <a:endParaRPr lang="en-US" sz="1600" dirty="0"/>
          </a:p>
        </p:txBody>
      </p:sp>
      <p:sp>
        <p:nvSpPr>
          <p:cNvPr id="33" name="Text 24"/>
          <p:cNvSpPr txBox="1"/>
          <p:nvPr/>
        </p:nvSpPr>
        <p:spPr>
          <a:xfrm>
            <a:off x="1691640" y="5349240"/>
            <a:ext cx="96313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Optional access-code gate wraps every stage  ·  a refresh/close warning protects in-memory work  ·  “New analysis” clears everything after confirmation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Ingestion cleans messy workbooks before any AI call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987552"/>
            <a:ext cx="110944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All four steps run in the browser and are covered by unit tests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533574" cy="3291840"/>
          </a:xfrm>
          <a:prstGeom prst="roundRect">
            <a:avLst>
              <a:gd name="adj" fmla="val 2887"/>
            </a:avLst>
          </a:prstGeom>
          <a:solidFill>
            <a:schemeClr val="bg2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92024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9202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1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1965960"/>
            <a:ext cx="134485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Parse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743200"/>
            <a:ext cx="203065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SheetJS reads every sheet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Skips title rows to find headers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CSV kept as raw text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402254" y="1691640"/>
            <a:ext cx="2533574" cy="3291840"/>
          </a:xfrm>
          <a:prstGeom prst="roundRect">
            <a:avLst>
              <a:gd name="adj" fmla="val 2887"/>
            </a:avLst>
          </a:prstGeom>
          <a:solidFill>
            <a:schemeClr val="bg2"/>
          </a:solidFill>
          <a:ln/>
        </p:spPr>
      </p:sp>
      <p:sp>
        <p:nvSpPr>
          <p:cNvPr id="10" name="Shape 8"/>
          <p:cNvSpPr/>
          <p:nvPr/>
        </p:nvSpPr>
        <p:spPr>
          <a:xfrm>
            <a:off x="3676574" y="192024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676574" y="19202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2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4408094" y="1965960"/>
            <a:ext cx="134485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Detect columns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3676574" y="2743200"/>
            <a:ext cx="203065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Synonym dictionary (strong/weak)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Content sniffing: dates, long text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Joins separate date + time columns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55868" y="1691640"/>
            <a:ext cx="2533574" cy="3291840"/>
          </a:xfrm>
          <a:prstGeom prst="roundRect">
            <a:avLst>
              <a:gd name="adj" fmla="val 2887"/>
            </a:avLst>
          </a:prstGeom>
          <a:solidFill>
            <a:schemeClr val="bg2"/>
          </a:solidFill>
          <a:ln/>
        </p:spPr>
      </p:sp>
      <p:sp>
        <p:nvSpPr>
          <p:cNvPr id="15" name="Shape 13"/>
          <p:cNvSpPr/>
          <p:nvPr/>
        </p:nvSpPr>
        <p:spPr>
          <a:xfrm>
            <a:off x="6530188" y="192024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530188" y="19202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3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7261708" y="1965960"/>
            <a:ext cx="134485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Parse dates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6530188" y="2743200"/>
            <a:ext cx="203065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Excel serials, dd/mm/yyyy (day-first)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ISO, dd-MMM-yy hh:mm, 12-hour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Stored as wall-clock time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9109481" y="1691640"/>
            <a:ext cx="2533574" cy="3291840"/>
          </a:xfrm>
          <a:prstGeom prst="roundRect">
            <a:avLst>
              <a:gd name="adj" fmla="val 2887"/>
            </a:avLst>
          </a:prstGeom>
          <a:solidFill>
            <a:schemeClr val="bg2"/>
          </a:solidFill>
          <a:ln/>
        </p:spPr>
      </p:sp>
      <p:sp>
        <p:nvSpPr>
          <p:cNvPr id="20" name="Shape 18"/>
          <p:cNvSpPr/>
          <p:nvPr/>
        </p:nvSpPr>
        <p:spPr>
          <a:xfrm>
            <a:off x="9383801" y="192024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383801" y="19202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4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10115321" y="1965960"/>
            <a:ext cx="134485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Normalise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9383801" y="2743200"/>
            <a:ext cx="203065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Drops blank, header and total rows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Normalises status and locations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Flags duplicates within 10 min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48640" y="5257800"/>
            <a:ext cx="11094415" cy="868680"/>
          </a:xfrm>
          <a:prstGeom prst="roundRect">
            <a:avLst>
              <a:gd name="adj" fmla="val 8421"/>
            </a:avLst>
          </a:prstGeom>
          <a:solidFill>
            <a:schemeClr val="bg1"/>
          </a:solidFill>
          <a:ln w="15875">
            <a:solidFill>
              <a:srgbClr val="D5DEE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22960" y="5394960"/>
            <a:ext cx="105457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Output: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DefectRecord[] in memory, plus a data-quality summary (rows kept and dropped, % missing per field, duplicates, unparseable dates) shown before the run.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The analysis pipeline mixes AI calls with local computation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987552"/>
            <a:ext cx="110944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Browser-orchestrated batches · 4 in parallel · retries with backoff · results cached by input hash</a:t>
            </a:r>
            <a:endParaRPr lang="en-US" sz="15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743200"/>
                <a:gridCol w="822960"/>
                <a:gridCol w="5333695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Stage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Runs in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Batch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Produces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Keyword pre-pass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</a:rPr>
                        <a:t>Browser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Locked category when keywords agree with the legacy sheet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Classify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/api/classify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25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Category, sub-theme, function, fault type, impact, severity, root cause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Embed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/api/embed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100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512-dimension vector per record summary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Cluster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</a:rPr>
                        <a:t>Web Worker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Recurring issues (≥ 3 reports, cosine ≥ 0.82)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Summarise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/api/summarise-clusters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Title, problem statement, root cause, action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Location criticality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/api/location-criticality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200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High / Medium / Low with reason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Draft CRs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/api/draft-cr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Standard CR for each P1/P2 recurring issue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Insights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/api/insights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3–5 bullets from aggregate stats only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85216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Partial failure is handled: </a:t>
            </a:r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unclassified records fall back to keyword or legacy categories, and “Retry failed batches” re-sends only what failed.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Priority comes from a transparent, adjustable formula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987552"/>
            <a:ext cx="110944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Deterministic and recomputed live in the browser whenever weights, overrides or filters change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94415" cy="1143000"/>
          </a:xfrm>
          <a:prstGeom prst="roundRect">
            <a:avLst>
              <a:gd name="adj" fmla="val 6400"/>
            </a:avLst>
          </a:prstGeom>
          <a:solidFill>
            <a:schemeClr val="tx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691640"/>
            <a:ext cx="1036289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chemeClr val="bg1"/>
                </a:solidFill>
              </a:rPr>
              <a:t>Score  =  100 × ( 0.35·Impact  +  0.25·Frequency  +  0.20·Location  +  0.20·SLA )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48640" y="3108960"/>
            <a:ext cx="2567864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3310128"/>
            <a:ext cx="274320" cy="2743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188720" y="3246120"/>
            <a:ext cx="17449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Impact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749040"/>
            <a:ext cx="21106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(severity − 1) / 4, +0.1 for Safety or Security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390824" y="3108960"/>
            <a:ext cx="2567864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11" name="Shape 9"/>
          <p:cNvSpPr/>
          <p:nvPr/>
        </p:nvSpPr>
        <p:spPr>
          <a:xfrm>
            <a:off x="3619424" y="3310128"/>
            <a:ext cx="274320" cy="2743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030904" y="3246120"/>
            <a:ext cx="17449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Frequency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3619424" y="3749040"/>
            <a:ext cx="21106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log-scaled cluster size vs P95, +0.2 for repeat at location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33008" y="3108960"/>
            <a:ext cx="2567864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15" name="Shape 13"/>
          <p:cNvSpPr/>
          <p:nvPr/>
        </p:nvSpPr>
        <p:spPr>
          <a:xfrm>
            <a:off x="6461608" y="3310128"/>
            <a:ext cx="274320" cy="27432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873088" y="3246120"/>
            <a:ext cx="17449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Location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461608" y="3749040"/>
            <a:ext cx="21106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High 1.0 · Medium 0.5 · Low 0.2 · Unknown 0.5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075191" y="3108960"/>
            <a:ext cx="2567864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19" name="Shape 17"/>
          <p:cNvSpPr/>
          <p:nvPr/>
        </p:nvSpPr>
        <p:spPr>
          <a:xfrm>
            <a:off x="9303791" y="3310128"/>
            <a:ext cx="274320" cy="27432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715271" y="3246120"/>
            <a:ext cx="17449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SLA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9303791" y="3749040"/>
            <a:ext cx="21106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TAT breach or open &gt; 4 h = 1.0 · response breach = 0.6 · met = 0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50292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Bands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645920" y="5029200"/>
            <a:ext cx="1417320" cy="457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25400">
            <a:solidFill>
              <a:schemeClr val="accent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645920" y="502920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P1  ≥ 75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3246120" y="5029200"/>
            <a:ext cx="1417320" cy="457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25400">
            <a:solidFill>
              <a:schemeClr val="accent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246120" y="502920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P2  55–74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4846320" y="5029200"/>
            <a:ext cx="1417320" cy="457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25400">
            <a:solidFill>
              <a:schemeClr val="accent4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846320" y="502920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P3  35–54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6446520" y="5029200"/>
            <a:ext cx="1417320" cy="457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25400">
            <a:solidFill>
              <a:schemeClr val="accent5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446520" y="502920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P4  &lt; 35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548640" y="56692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Cluster score = P75 of member scores × (1 + 0.05 × distinct locations, max 10), capped at 100. Every score shows its breakdown on hover.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Every API request passes the same guarded path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987552"/>
            <a:ext cx="110944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One shared wrapper (handlePost) applied to all six stateless route handlers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428162" cy="2377440"/>
          </a:xfrm>
          <a:prstGeom prst="roundRect">
            <a:avLst>
              <a:gd name="adj" fmla="val 5122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58368" y="1920240"/>
            <a:ext cx="120870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Access code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2651760"/>
            <a:ext cx="120870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Only when ACCESS_CODE is set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3611880"/>
            <a:ext cx="120870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fails → 401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995090" y="2971800"/>
            <a:ext cx="146304" cy="0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159682" y="1783080"/>
            <a:ext cx="1428162" cy="2377440"/>
          </a:xfrm>
          <a:prstGeom prst="roundRect">
            <a:avLst>
              <a:gd name="adj" fmla="val 5122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269410" y="1920240"/>
            <a:ext cx="120870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Rate limit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2269410" y="2651760"/>
            <a:ext cx="120870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Per-IP sliding window, Retry-After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269410" y="3611880"/>
            <a:ext cx="120870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fails → 429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06132" y="2971800"/>
            <a:ext cx="146304" cy="0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770724" y="1783080"/>
            <a:ext cx="1428162" cy="2377440"/>
          </a:xfrm>
          <a:prstGeom prst="roundRect">
            <a:avLst>
              <a:gd name="adj" fmla="val 5122"/>
            </a:avLst>
          </a:prstGeom>
          <a:solidFill>
            <a:schemeClr val="bg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880452" y="1920240"/>
            <a:ext cx="120870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Size limit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3880452" y="2651760"/>
            <a:ext cx="120870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256 KB request bodies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3880452" y="3611880"/>
            <a:ext cx="120870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fails → 413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217175" y="2971800"/>
            <a:ext cx="146304" cy="0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5381767" y="1783080"/>
            <a:ext cx="1428162" cy="2377440"/>
          </a:xfrm>
          <a:prstGeom prst="roundRect">
            <a:avLst>
              <a:gd name="adj" fmla="val 5122"/>
            </a:avLst>
          </a:prstGeom>
          <a:solidFill>
            <a:schemeClr val="bg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91495" y="1920240"/>
            <a:ext cx="120870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Zod validation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5491495" y="2651760"/>
            <a:ext cx="120870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Schema per route; batch caps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491495" y="3611880"/>
            <a:ext cx="120870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fails → 400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828217" y="2971800"/>
            <a:ext cx="146304" cy="0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992809" y="1783080"/>
            <a:ext cx="1428162" cy="2377440"/>
          </a:xfrm>
          <a:prstGeom prst="roundRect">
            <a:avLst>
              <a:gd name="adj" fmla="val 5122"/>
            </a:avLst>
          </a:prstGeom>
          <a:solidFill>
            <a:schemeClr val="bg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102537" y="1920240"/>
            <a:ext cx="120870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PII scrub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7102537" y="2651760"/>
            <a:ext cx="120870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Emails, phones, NRIC-like IDs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439259" y="2971800"/>
            <a:ext cx="146304" cy="0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8603851" y="1783080"/>
            <a:ext cx="1428162" cy="2377440"/>
          </a:xfrm>
          <a:prstGeom prst="roundRect">
            <a:avLst>
              <a:gd name="adj" fmla="val 5122"/>
            </a:avLst>
          </a:prstGeom>
          <a:solidFill>
            <a:schemeClr val="bg2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8713579" y="1920240"/>
            <a:ext cx="120870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OpenAI call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8713579" y="2651760"/>
            <a:ext cx="120870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Strict JSON schema, temperature 0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8713579" y="3611880"/>
            <a:ext cx="120870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fails → 502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10050301" y="2971800"/>
            <a:ext cx="146304" cy="0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10214893" y="1783080"/>
            <a:ext cx="1428162" cy="2377440"/>
          </a:xfrm>
          <a:prstGeom prst="roundRect">
            <a:avLst>
              <a:gd name="adj" fmla="val 5122"/>
            </a:avLst>
          </a:prstGeom>
          <a:solidFill>
            <a:srgbClr val="E8F6EF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10324621" y="1920240"/>
            <a:ext cx="120870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Validate &amp; respond</a:t>
            </a:r>
            <a:endParaRPr lang="en-US" sz="1500" dirty="0"/>
          </a:p>
        </p:txBody>
      </p:sp>
      <p:sp>
        <p:nvSpPr>
          <p:cNvPr id="35" name="Text 33"/>
          <p:cNvSpPr txBox="1"/>
          <p:nvPr/>
        </p:nvSpPr>
        <p:spPr>
          <a:xfrm>
            <a:off x="10324621" y="2651760"/>
            <a:ext cx="120870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Zod-checked typed JSON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48640" y="45720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4709160"/>
            <a:ext cx="274320" cy="274320"/>
          </a:xfrm>
          <a:prstGeom prst="rect">
            <a:avLst/>
          </a:prstGeom>
        </p:spPr>
      </p:pic>
      <p:sp>
        <p:nvSpPr>
          <p:cNvPr id="38" name="Text 35"/>
          <p:cNvSpPr txBox="1"/>
          <p:nvPr/>
        </p:nvSpPr>
        <p:spPr>
          <a:xfrm>
            <a:off x="1280160" y="4526280"/>
            <a:ext cx="27227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Stateless</a:t>
            </a:r>
            <a:endParaRPr lang="en-US" sz="1600" dirty="0"/>
          </a:p>
        </p:txBody>
      </p:sp>
      <p:sp>
        <p:nvSpPr>
          <p:cNvPr id="39" name="Text 36"/>
          <p:cNvSpPr txBox="1"/>
          <p:nvPr/>
        </p:nvSpPr>
        <p:spPr>
          <a:xfrm>
            <a:off x="1280160" y="4892040"/>
            <a:ext cx="272277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No server cache or storage; maxDuration 60 s</a:t>
            </a:r>
            <a:endParaRPr lang="en-US" sz="1400" dirty="0"/>
          </a:p>
        </p:txBody>
      </p:sp>
      <p:sp>
        <p:nvSpPr>
          <p:cNvPr id="40" name="Shape 37"/>
          <p:cNvSpPr/>
          <p:nvPr/>
        </p:nvSpPr>
        <p:spPr>
          <a:xfrm>
            <a:off x="4368698" y="45720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5858" y="4709160"/>
            <a:ext cx="274320" cy="274320"/>
          </a:xfrm>
          <a:prstGeom prst="rect">
            <a:avLst/>
          </a:prstGeom>
        </p:spPr>
      </p:pic>
      <p:sp>
        <p:nvSpPr>
          <p:cNvPr id="42" name="Text 38"/>
          <p:cNvSpPr txBox="1"/>
          <p:nvPr/>
        </p:nvSpPr>
        <p:spPr>
          <a:xfrm>
            <a:off x="5100218" y="4526280"/>
            <a:ext cx="27227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No content logging</a:t>
            </a:r>
            <a:endParaRPr lang="en-US" sz="1600" dirty="0"/>
          </a:p>
        </p:txBody>
      </p:sp>
      <p:sp>
        <p:nvSpPr>
          <p:cNvPr id="43" name="Text 39"/>
          <p:cNvSpPr txBox="1"/>
          <p:nvPr/>
        </p:nvSpPr>
        <p:spPr>
          <a:xfrm>
            <a:off x="5100218" y="4892040"/>
            <a:ext cx="272277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Logs only route, error code and upstream status</a:t>
            </a:r>
            <a:endParaRPr lang="en-US" sz="1400" dirty="0"/>
          </a:p>
        </p:txBody>
      </p:sp>
      <p:sp>
        <p:nvSpPr>
          <p:cNvPr id="44" name="Shape 40"/>
          <p:cNvSpPr/>
          <p:nvPr/>
        </p:nvSpPr>
        <p:spPr>
          <a:xfrm>
            <a:off x="8188757" y="45720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5917" y="4709160"/>
            <a:ext cx="274320" cy="274320"/>
          </a:xfrm>
          <a:prstGeom prst="rect">
            <a:avLst/>
          </a:prstGeom>
        </p:spPr>
      </p:pic>
      <p:sp>
        <p:nvSpPr>
          <p:cNvPr id="46" name="Text 41"/>
          <p:cNvSpPr txBox="1"/>
          <p:nvPr/>
        </p:nvSpPr>
        <p:spPr>
          <a:xfrm>
            <a:off x="8920277" y="4526280"/>
            <a:ext cx="27227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Demo mode</a:t>
            </a:r>
            <a:endParaRPr lang="en-US" sz="1600" dirty="0"/>
          </a:p>
        </p:txBody>
      </p:sp>
      <p:sp>
        <p:nvSpPr>
          <p:cNvPr id="47" name="Text 42"/>
          <p:cNvSpPr txBox="1"/>
          <p:nvPr/>
        </p:nvSpPr>
        <p:spPr>
          <a:xfrm>
            <a:off x="8920277" y="4892040"/>
            <a:ext cx="272277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MOCK_AI=1 swaps OpenAI for deterministic rules (tests, previews)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One in-memory store holds the whole session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987552"/>
            <a:ext cx="110944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Zustand without persistence; derived analytics are memoised and recompute in well under 300 ms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24612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801368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Session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14884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Consent, access code, server health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069080" y="1691640"/>
            <a:ext cx="324612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297680" y="1801368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Input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297680" y="214884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Workbook, selected sheets, column mapping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2788920"/>
            <a:ext cx="324612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77240" y="2898648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Data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324612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Normalised records, data-quality summary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069080" y="2788920"/>
            <a:ext cx="324612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297680" y="2898648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AI results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297680" y="324612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Classifications, clusters, ratings, CRs, insights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3886200"/>
            <a:ext cx="324612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77240" y="3995928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User edits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434340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Category, location and CR overrides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069080" y="3886200"/>
            <a:ext cx="324612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297680" y="3995928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View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4297680" y="434340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Weights, threshold, manpower settings, filters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772400" y="1691640"/>
            <a:ext cx="3870655" cy="3108960"/>
          </a:xfrm>
          <a:prstGeom prst="roundRect">
            <a:avLst>
              <a:gd name="adj" fmla="val 2353"/>
            </a:avLst>
          </a:prstGeom>
          <a:solidFill>
            <a:schemeClr val="tx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046720" y="1874520"/>
            <a:ext cx="33220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Live derivation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8046720" y="2377440"/>
            <a:ext cx="3322015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Records + AI results + overrides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→ SLA per record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→ location repeats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→ priority scores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→ cluster metrics and bands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→ global filters, then charts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48640" y="5120640"/>
            <a:ext cx="11094415" cy="960120"/>
          </a:xfrm>
          <a:prstGeom prst="roundRect">
            <a:avLst>
              <a:gd name="adj" fmla="val 7619"/>
            </a:avLst>
          </a:prstGeom>
          <a:solidFill>
            <a:schemeClr val="bg1"/>
          </a:solidFill>
          <a:ln w="15875">
            <a:solidFill>
              <a:srgbClr val="D5DEE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77240" y="5303520"/>
            <a:ext cx="594360" cy="59436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830" y="5452110"/>
            <a:ext cx="297180" cy="297180"/>
          </a:xfrm>
          <a:prstGeom prst="rect">
            <a:avLst/>
          </a:prstGeom>
        </p:spPr>
      </p:pic>
      <p:sp>
        <p:nvSpPr>
          <p:cNvPr id="28" name="Text 25"/>
          <p:cNvSpPr txBox="1"/>
          <p:nvPr/>
        </p:nvSpPr>
        <p:spPr>
          <a:xfrm>
            <a:off x="1554480" y="5212080"/>
            <a:ext cx="98142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Session lifetime: refresh or close = gone (with a warning first). AI results are also cached by input hash, so retries and re-clustering never re-bill.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Security and privacy are built into each layer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987552"/>
            <a:ext cx="110944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Open access is mitigated, not ignored; set a monthly spend limit in OpenAI as the final backstop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64328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9659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4410" y="2137410"/>
            <a:ext cx="342900" cy="3429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737360" y="1874520"/>
            <a:ext cx="3992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File confidentiality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1737360" y="2258568"/>
            <a:ext cx="39927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Parsed in the browser; never uploaded or stored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278728" y="1691640"/>
            <a:ext cx="5364328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/>
        </p:spPr>
      </p:sp>
      <p:sp>
        <p:nvSpPr>
          <p:cNvPr id="10" name="Shape 7"/>
          <p:cNvSpPr/>
          <p:nvPr/>
        </p:nvSpPr>
        <p:spPr>
          <a:xfrm>
            <a:off x="6553048" y="1965960"/>
            <a:ext cx="685800" cy="6858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4498" y="2137410"/>
            <a:ext cx="342900" cy="3429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467448" y="1874520"/>
            <a:ext cx="3992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Data minimisation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7467448" y="2258568"/>
            <a:ext cx="39927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Only description, location, asset, action, legacy category sent; names never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548640" y="3154680"/>
            <a:ext cx="5364328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/>
        </p:spPr>
      </p:sp>
      <p:sp>
        <p:nvSpPr>
          <p:cNvPr id="15" name="Shape 11"/>
          <p:cNvSpPr/>
          <p:nvPr/>
        </p:nvSpPr>
        <p:spPr>
          <a:xfrm>
            <a:off x="822960" y="342900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410" y="3600450"/>
            <a:ext cx="342900" cy="34290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737360" y="3337560"/>
            <a:ext cx="3992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PII scrubbing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1737360" y="3721608"/>
            <a:ext cx="39927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Emails, phone numbers, NRIC-like IDs removed in browser and server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6278728" y="3154680"/>
            <a:ext cx="5364328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/>
        </p:spPr>
      </p:sp>
      <p:sp>
        <p:nvSpPr>
          <p:cNvPr id="20" name="Shape 15"/>
          <p:cNvSpPr/>
          <p:nvPr/>
        </p:nvSpPr>
        <p:spPr>
          <a:xfrm>
            <a:off x="6553048" y="3429000"/>
            <a:ext cx="685800" cy="6858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4498" y="3600450"/>
            <a:ext cx="342900" cy="34290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467448" y="3337560"/>
            <a:ext cx="3992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Secret key</a:t>
            </a:r>
            <a:endParaRPr lang="en-US" sz="1700" dirty="0"/>
          </a:p>
        </p:txBody>
      </p:sp>
      <p:sp>
        <p:nvSpPr>
          <p:cNvPr id="23" name="Text 17"/>
          <p:cNvSpPr txBox="1"/>
          <p:nvPr/>
        </p:nvSpPr>
        <p:spPr>
          <a:xfrm>
            <a:off x="7467448" y="3721608"/>
            <a:ext cx="39927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Server-only imports; build fails if key name or value reaches the bundle</a:t>
            </a:r>
            <a:endParaRPr lang="en-US" sz="1400" dirty="0"/>
          </a:p>
        </p:txBody>
      </p:sp>
      <p:sp>
        <p:nvSpPr>
          <p:cNvPr id="24" name="Shape 18"/>
          <p:cNvSpPr/>
          <p:nvPr/>
        </p:nvSpPr>
        <p:spPr>
          <a:xfrm>
            <a:off x="548640" y="4617720"/>
            <a:ext cx="5364328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/>
        </p:spPr>
      </p:sp>
      <p:sp>
        <p:nvSpPr>
          <p:cNvPr id="25" name="Shape 19"/>
          <p:cNvSpPr/>
          <p:nvPr/>
        </p:nvSpPr>
        <p:spPr>
          <a:xfrm>
            <a:off x="822960" y="489204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4410" y="5063490"/>
            <a:ext cx="342900" cy="34290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737360" y="4800600"/>
            <a:ext cx="3992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Abuse controls</a:t>
            </a:r>
            <a:endParaRPr lang="en-US" sz="1700" dirty="0"/>
          </a:p>
        </p:txBody>
      </p:sp>
      <p:sp>
        <p:nvSpPr>
          <p:cNvPr id="28" name="Text 21"/>
          <p:cNvSpPr txBox="1"/>
          <p:nvPr/>
        </p:nvSpPr>
        <p:spPr>
          <a:xfrm>
            <a:off x="1737360" y="5184648"/>
            <a:ext cx="39927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Rate limit, payload and row caps, optional access code</a:t>
            </a:r>
            <a:endParaRPr lang="en-US" sz="1400" dirty="0"/>
          </a:p>
        </p:txBody>
      </p:sp>
      <p:sp>
        <p:nvSpPr>
          <p:cNvPr id="29" name="Shape 22"/>
          <p:cNvSpPr/>
          <p:nvPr/>
        </p:nvSpPr>
        <p:spPr>
          <a:xfrm>
            <a:off x="6278728" y="4617720"/>
            <a:ext cx="5364328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/>
        </p:spPr>
      </p:sp>
      <p:sp>
        <p:nvSpPr>
          <p:cNvPr id="30" name="Shape 23"/>
          <p:cNvSpPr/>
          <p:nvPr/>
        </p:nvSpPr>
        <p:spPr>
          <a:xfrm>
            <a:off x="6553048" y="4892040"/>
            <a:ext cx="685800" cy="6858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24498" y="5063490"/>
            <a:ext cx="342900" cy="342900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7467448" y="4800600"/>
            <a:ext cx="3992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Browser hardening</a:t>
            </a:r>
            <a:endParaRPr lang="en-US" sz="1700" dirty="0"/>
          </a:p>
        </p:txBody>
      </p:sp>
      <p:sp>
        <p:nvSpPr>
          <p:cNvPr id="33" name="Text 25"/>
          <p:cNvSpPr txBox="1"/>
          <p:nvPr/>
        </p:nvSpPr>
        <p:spPr>
          <a:xfrm>
            <a:off x="7467448" y="5184648"/>
            <a:ext cx="39927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CSP 'self', frame DENY, no-referrer, nosniff; no trackers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Git push to main deploys to production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987552"/>
            <a:ext cx="110944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Vercel builds behind two secret checks; previews run in demo mode without the API key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430704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/>
        </p:spPr>
      </p:sp>
      <p:sp>
        <p:nvSpPr>
          <p:cNvPr id="5" name="Shape 3"/>
          <p:cNvSpPr/>
          <p:nvPr/>
        </p:nvSpPr>
        <p:spPr>
          <a:xfrm>
            <a:off x="1398232" y="1874520"/>
            <a:ext cx="731520" cy="73152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1112" y="2057400"/>
            <a:ext cx="365760" cy="3657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31520" y="2697480"/>
            <a:ext cx="2064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Developer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3063240"/>
            <a:ext cx="20649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git push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025064" y="2834640"/>
            <a:ext cx="365760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3436544" y="1691640"/>
            <a:ext cx="2430704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/>
        </p:spPr>
      </p:sp>
      <p:sp>
        <p:nvSpPr>
          <p:cNvPr id="11" name="Shape 8"/>
          <p:cNvSpPr/>
          <p:nvPr/>
        </p:nvSpPr>
        <p:spPr>
          <a:xfrm>
            <a:off x="4286136" y="1874520"/>
            <a:ext cx="731520" cy="73152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9016" y="205740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619424" y="2697480"/>
            <a:ext cx="2064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GitHub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3619424" y="3063240"/>
            <a:ext cx="20649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wijehdude/fix-it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main → Production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PR → Preview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5912968" y="2834640"/>
            <a:ext cx="365760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6" name="Shape 12"/>
          <p:cNvSpPr/>
          <p:nvPr/>
        </p:nvSpPr>
        <p:spPr>
          <a:xfrm>
            <a:off x="6324448" y="1691640"/>
            <a:ext cx="2430704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/>
        </p:spPr>
      </p:sp>
      <p:sp>
        <p:nvSpPr>
          <p:cNvPr id="17" name="Shape 13"/>
          <p:cNvSpPr/>
          <p:nvPr/>
        </p:nvSpPr>
        <p:spPr>
          <a:xfrm>
            <a:off x="7174040" y="187452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6919" y="2057400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507328" y="2697480"/>
            <a:ext cx="2064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Vercel build</a:t>
            </a:r>
            <a:endParaRPr lang="en-US" sz="1700" dirty="0"/>
          </a:p>
        </p:txBody>
      </p:sp>
      <p:sp>
        <p:nvSpPr>
          <p:cNvPr id="20" name="Text 15"/>
          <p:cNvSpPr txBox="1"/>
          <p:nvPr/>
        </p:nvSpPr>
        <p:spPr>
          <a:xfrm>
            <a:off x="6507328" y="3063240"/>
            <a:ext cx="20649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secret check → next build → bundle secret check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8800871" y="2834640"/>
            <a:ext cx="365760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2" name="Shape 17"/>
          <p:cNvSpPr/>
          <p:nvPr/>
        </p:nvSpPr>
        <p:spPr>
          <a:xfrm>
            <a:off x="9212351" y="1691640"/>
            <a:ext cx="2430704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/>
        </p:spPr>
      </p:sp>
      <p:sp>
        <p:nvSpPr>
          <p:cNvPr id="23" name="Shape 18"/>
          <p:cNvSpPr/>
          <p:nvPr/>
        </p:nvSpPr>
        <p:spPr>
          <a:xfrm>
            <a:off x="10061943" y="1874520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4823" y="2057400"/>
            <a:ext cx="365760" cy="36576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9395231" y="2697480"/>
            <a:ext cx="2064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Runtime</a:t>
            </a:r>
            <a:endParaRPr lang="en-US" sz="1700" dirty="0"/>
          </a:p>
        </p:txBody>
      </p:sp>
      <p:sp>
        <p:nvSpPr>
          <p:cNvPr id="26" name="Text 20"/>
          <p:cNvSpPr txBox="1"/>
          <p:nvPr/>
        </p:nvSpPr>
        <p:spPr>
          <a:xfrm>
            <a:off x="9395231" y="3063240"/>
            <a:ext cx="20649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Static SPA on CDN + serverless route handlers (Node.js, 60 s)</a:t>
            </a:r>
            <a:endParaRPr lang="en-US" sz="13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297680"/>
          <a:ext cx="11094415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4846320"/>
                <a:gridCol w="2041855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Environment variable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Purpose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Where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OPENAI_API_KEY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Server-side API key (required)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Production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OPENAI_MODEL / OPENAI_EMBEDDING_MODEL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gpt-5.4-mini / text-embedding-3-small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All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RATE_LIMIT_PER_MIN · ACCESS_CODE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Abuse controls (optional)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Optional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MOCK_AI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Demo mode for previews and tests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Preview only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Quality gates and measured performance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987552"/>
            <a:ext cx="110944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Tests guard the deterministic core; an end-to-end run checks the whole flow on the live site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533574" cy="23774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828800"/>
            <a:ext cx="216781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51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788920"/>
            <a:ext cx="21678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unit tests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200400"/>
            <a:ext cx="216781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dates, columns, SLA, scoring, clustering, manpower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402254" y="1691640"/>
            <a:ext cx="2533574" cy="23774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585134" y="1828800"/>
            <a:ext cx="216781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accent2"/>
                </a:solidFill>
              </a:rPr>
              <a:t>10</a:t>
            </a:r>
            <a:endParaRPr lang="en-US" sz="4400" dirty="0"/>
          </a:p>
        </p:txBody>
      </p:sp>
      <p:sp>
        <p:nvSpPr>
          <p:cNvPr id="10" name="Text 8"/>
          <p:cNvSpPr txBox="1"/>
          <p:nvPr/>
        </p:nvSpPr>
        <p:spPr>
          <a:xfrm>
            <a:off x="3585134" y="2788920"/>
            <a:ext cx="21678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tabs verified end-to-end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585134" y="3200400"/>
            <a:ext cx="216781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Playwright: upload → map → analyse → CRs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55868" y="1691640"/>
            <a:ext cx="2533574" cy="23774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38748" y="1828800"/>
            <a:ext cx="216781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accent3"/>
                </a:solidFill>
              </a:rPr>
              <a:t>~1.5 min</a:t>
            </a:r>
            <a:endParaRPr lang="en-US" sz="4400" dirty="0"/>
          </a:p>
        </p:txBody>
      </p:sp>
      <p:sp>
        <p:nvSpPr>
          <p:cNvPr id="14" name="Text 12"/>
          <p:cNvSpPr txBox="1"/>
          <p:nvPr/>
        </p:nvSpPr>
        <p:spPr>
          <a:xfrm>
            <a:off x="6438748" y="2788920"/>
            <a:ext cx="21678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296 records, real AI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438748" y="3200400"/>
            <a:ext cx="216781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full pipeline on production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109481" y="1691640"/>
            <a:ext cx="2533574" cy="23774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292361" y="1828800"/>
            <a:ext cx="216781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&lt; 300 ms</a:t>
            </a:r>
            <a:endParaRPr lang="en-US" sz="4400" dirty="0"/>
          </a:p>
        </p:txBody>
      </p:sp>
      <p:sp>
        <p:nvSpPr>
          <p:cNvPr id="18" name="Text 16"/>
          <p:cNvSpPr txBox="1"/>
          <p:nvPr/>
        </p:nvSpPr>
        <p:spPr>
          <a:xfrm>
            <a:off x="9292361" y="2788920"/>
            <a:ext cx="21678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interaction target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9292361" y="3200400"/>
            <a:ext cx="216781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filters, sliders, overrides recompute live</a:t>
            </a:r>
            <a:endParaRPr lang="en-US" sz="13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389120"/>
          <a:ext cx="1109441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716975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File limit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10 MB · 10,000 rows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Batch sizes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classify 25 · embed 100 · summarise 10 · locations 200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Concurrency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 parallel requests, retries with backoff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Clustering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O(n²) nearest-neighbour chain, per category, in a Web Worker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Known limits and where to extend next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364328" cy="1371600"/>
          </a:xfrm>
          <a:prstGeom prst="roundRect">
            <a:avLst>
              <a:gd name="adj" fmla="val 5333"/>
            </a:avLst>
          </a:prstGeom>
          <a:solidFill>
            <a:srgbClr val="21416A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783080"/>
            <a:ext cx="731520" cy="7315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965960"/>
            <a:ext cx="365760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783080" y="1664208"/>
            <a:ext cx="39012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No saved history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783080" y="2103120"/>
            <a:ext cx="39012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CE6F5"/>
                </a:solidFill>
              </a:rPr>
              <a:t>By design. Saving results would need a database and user authentication.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278728" y="1463040"/>
            <a:ext cx="5364328" cy="1371600"/>
          </a:xfrm>
          <a:prstGeom prst="roundRect">
            <a:avLst>
              <a:gd name="adj" fmla="val 5333"/>
            </a:avLst>
          </a:prstGeom>
          <a:solidFill>
            <a:srgbClr val="21416A"/>
          </a:solidFill>
          <a:ln/>
        </p:spPr>
      </p:sp>
      <p:sp>
        <p:nvSpPr>
          <p:cNvPr id="9" name="Shape 6"/>
          <p:cNvSpPr/>
          <p:nvPr/>
        </p:nvSpPr>
        <p:spPr>
          <a:xfrm>
            <a:off x="6553048" y="1783080"/>
            <a:ext cx="731520" cy="7315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5928" y="196596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513168" y="1664208"/>
            <a:ext cx="39012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Per-instance rate limit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7513168" y="2103120"/>
            <a:ext cx="39012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CE6F5"/>
                </a:solidFill>
              </a:rPr>
              <a:t>A shared store (e.g. Redis) would make limits global across instances.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548640" y="3063240"/>
            <a:ext cx="5364328" cy="1371600"/>
          </a:xfrm>
          <a:prstGeom prst="roundRect">
            <a:avLst>
              <a:gd name="adj" fmla="val 5333"/>
            </a:avLst>
          </a:prstGeom>
          <a:solidFill>
            <a:srgbClr val="21416A"/>
          </a:solidFill>
          <a:ln/>
        </p:spPr>
      </p:sp>
      <p:sp>
        <p:nvSpPr>
          <p:cNvPr id="14" name="Shape 10"/>
          <p:cNvSpPr/>
          <p:nvPr/>
        </p:nvSpPr>
        <p:spPr>
          <a:xfrm>
            <a:off x="822960" y="3383280"/>
            <a:ext cx="731520" cy="7315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566160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783080" y="3264408"/>
            <a:ext cx="39012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24/7 SLA clock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1783080" y="3703320"/>
            <a:ext cx="39012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CE6F5"/>
                </a:solidFill>
              </a:rPr>
              <a:t>Business-hours SLAs need a working calendar in config/sla.ts.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6278728" y="3063240"/>
            <a:ext cx="5364328" cy="1371600"/>
          </a:xfrm>
          <a:prstGeom prst="roundRect">
            <a:avLst>
              <a:gd name="adj" fmla="val 5333"/>
            </a:avLst>
          </a:prstGeom>
          <a:solidFill>
            <a:srgbClr val="21416A"/>
          </a:solidFill>
          <a:ln/>
        </p:spPr>
      </p:sp>
      <p:sp>
        <p:nvSpPr>
          <p:cNvPr id="19" name="Shape 14"/>
          <p:cNvSpPr/>
          <p:nvPr/>
        </p:nvSpPr>
        <p:spPr>
          <a:xfrm>
            <a:off x="6553048" y="3383280"/>
            <a:ext cx="731520" cy="7315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5928" y="3566160"/>
            <a:ext cx="365760" cy="36576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513168" y="3264408"/>
            <a:ext cx="39012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Clusters after overrides</a:t>
            </a:r>
            <a:endParaRPr lang="en-US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7513168" y="3703320"/>
            <a:ext cx="39012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CE6F5"/>
                </a:solidFill>
              </a:rPr>
              <a:t>Overrides don't regroup clusters until “Apply and re-cluster” is used.</a:t>
            </a:r>
            <a:endParaRPr lang="en-US" sz="1400" dirty="0"/>
          </a:p>
        </p:txBody>
      </p:sp>
      <p:sp>
        <p:nvSpPr>
          <p:cNvPr id="23" name="Shape 17"/>
          <p:cNvSpPr/>
          <p:nvPr/>
        </p:nvSpPr>
        <p:spPr>
          <a:xfrm>
            <a:off x="548640" y="4800600"/>
            <a:ext cx="11094415" cy="1234440"/>
          </a:xfrm>
          <a:prstGeom prst="roundRect">
            <a:avLst>
              <a:gd name="adj" fmla="val 5926"/>
            </a:avLst>
          </a:prstGeom>
          <a:solidFill>
            <a:schemeClr val="accent1"/>
          </a:solidFill>
          <a:ln/>
        </p:spPr>
      </p:sp>
      <p:sp>
        <p:nvSpPr>
          <p:cNvPr id="24" name="Shape 18"/>
          <p:cNvSpPr/>
          <p:nvPr/>
        </p:nvSpPr>
        <p:spPr>
          <a:xfrm>
            <a:off x="822960" y="5074920"/>
            <a:ext cx="685800" cy="685800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4410" y="5246370"/>
            <a:ext cx="342900" cy="34290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737360" y="4937760"/>
            <a:ext cx="96313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Extending the scheme</a:t>
            </a:r>
            <a:endParaRPr lang="en-US" sz="1800" dirty="0"/>
          </a:p>
        </p:txBody>
      </p:sp>
      <p:sp>
        <p:nvSpPr>
          <p:cNvPr id="27" name="Text 20"/>
          <p:cNvSpPr txBox="1"/>
          <p:nvPr/>
        </p:nvSpPr>
        <p:spPr>
          <a:xfrm>
            <a:off x="1737360" y="5349240"/>
            <a:ext cx="96313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Add a category, system function, trade or shift in src/config/: prompts, AI schemas and the UI pick it up automatically.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ADCF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3 Defect Intelligence">
  <a:themeElements>
    <a:clrScheme name="C3 Defect Intelligence">
      <a:dk1>
        <a:srgbClr val="1B2433"/>
      </a:dk1>
      <a:lt1>
        <a:srgbClr val="FFFFFF"/>
      </a:lt1>
      <a:dk2>
        <a:srgbClr val="16304F"/>
      </a:dk2>
      <a:lt2>
        <a:srgbClr val="EEF3F9"/>
      </a:lt2>
      <a:accent1>
        <a:srgbClr val="2A78D6"/>
      </a:accent1>
      <a:accent2>
        <a:srgbClr val="1BAF7A"/>
      </a:accent2>
      <a:accent3>
        <a:srgbClr val="EB6834"/>
      </a:accent3>
      <a:accent4>
        <a:srgbClr val="EDA100"/>
      </a:accent4>
      <a:accent5>
        <a:srgbClr val="5B6B82"/>
      </a:accent5>
      <a:accent6>
        <a:srgbClr val="D03B3B"/>
      </a:accent6>
      <a:hlink>
        <a:srgbClr val="2A78D6"/>
      </a:hlink>
      <a:folHlink>
        <a:srgbClr val="4A3AA7"/>
      </a:folHlink>
    </a:clrScheme>
    <a:fontScheme name="C3 Defect Intelligen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C3 Defect Intelligence Dashboard — System Architecture</dc:title>
  <dc:subject>PptxGenJS Presentation</dc:subject>
  <dc:creator>C3 Defect Intelligence</dc:creator>
  <cp:lastModifiedBy>C3 Defect Intelligence</cp:lastModifiedBy>
  <cp:revision>1</cp:revision>
  <dcterms:created xsi:type="dcterms:W3CDTF">2026-10-22T06:40:41Z</dcterms:created>
  <dcterms:modified xsi:type="dcterms:W3CDTF">2026-10-22T06:40:41Z</dcterms:modified>
</cp:coreProperties>
</file>